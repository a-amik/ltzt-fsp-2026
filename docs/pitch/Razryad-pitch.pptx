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268" r:id="rId25"/>
    <p:sldId id="267" r:id="rId26"/>
    <p:sldId id="371" r:id="rId17"/>
    <p:sldId id="270" r:id="rId28"/>
    <p:sldId id="372" r:id="rId14"/>
    <p:sldId id="374" r:id="rId18"/>
    <p:sldId id="260" r:id="rId19"/>
    <p:sldId id="262" r:id="rId21"/>
    <p:sldId id="370" r:id="rId16"/>
    <p:sldId id="376" r:id="rId45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3" autoAdjust="0"/>
    <p:restoredTop sz="95857"/>
  </p:normalViewPr>
  <p:slideViewPr>
    <p:cSldViewPr snapToGrid="0" showGuides="1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4" Type="http://schemas.openxmlformats.org/officeDocument/2006/relationships/slide" Target="slides/slide10.xml"/><Relationship Id="rId16" Type="http://schemas.openxmlformats.org/officeDocument/2006/relationships/slide" Target="slides/slide14.xml"/><Relationship Id="rId17" Type="http://schemas.openxmlformats.org/officeDocument/2006/relationships/slide" Target="slides/slide8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1" Type="http://schemas.openxmlformats.org/officeDocument/2006/relationships/slide" Target="slides/slide13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8" Type="http://schemas.openxmlformats.org/officeDocument/2006/relationships/slide" Target="slides/slide9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02.10.2026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02.10.2026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02.10.2026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02.10.2026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  <p:txBody>
          <a:bodyPr/>
          <a:p/>
        </p:txBody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r>
              <a:rPr sz="6000">
                <a:solidFill>
                  <a:srgbClr val="FFFFFF"/>
                </a:solidFill>
              </a:rPr>
              <a:t>Разряд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463" indent="-3175"/>
            <a:r>
              <a:rPr lang="ru-RU" dirty="0"/>
              <a:t>Команда «Разряд» · Цифровая платформа-агрегатор ИТ-вакансий с верифицированным профилем достижений участника ФСП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 sz="1200">
                <a:solidFill>
                  <a:schemeClr val="tx1"/>
                </a:solidFill>
              </a:rPr>
              <a:t>У каждого факта профиля видно происхождение: ФСП, встреча с работодателем, тест или «со слов». Результаты соревнований федерации поднимают кандидата внутри категории.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 sz="1200">
                <a:solidFill>
                  <a:schemeClr val="tx1"/>
                </a:solidFill>
              </a:rPr>
              <a:t>Капитан: </a:t>
            </a:r>
            <a:r>
              <a:rPr lang="ru-RU" b="1" dirty="0" sz="1200">
                <a:solidFill>
                  <a:schemeClr val="tx1"/>
                </a:solidFill>
              </a:rPr>
              <a:t>Амбарцум Амаякян, руководитель направления, продукт и разработка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 sz="1200">
                <a:solidFill>
                  <a:schemeClr val="tx1"/>
                </a:solidFill>
              </a:rPr>
              <a:t>Участников: </a:t>
            </a:r>
            <a:r>
              <a:rPr lang="ru-RU" b="1" dirty="0" sz="1200">
                <a:solidFill>
                  <a:schemeClr val="tx1"/>
                </a:solidFill>
              </a:rPr>
              <a:t>2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 sz="1200">
                <a:solidFill>
                  <a:schemeClr val="tx1"/>
                </a:solidFill>
              </a:rPr>
              <a:t>Как собрались: </a:t>
            </a:r>
            <a:r>
              <a:rPr lang="ru-RU" b="1" dirty="0" sz="1200">
                <a:solidFill>
                  <a:schemeClr val="tx1"/>
                </a:solidFill>
              </a:rPr>
              <a:t>второй совместный хакатон ЛЦТ после «Маршрута дня» для Билайна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 sz="1200">
                <a:solidFill>
                  <a:schemeClr val="tx1"/>
                </a:solidFill>
              </a:rPr>
              <a:t>Город: </a:t>
            </a:r>
            <a:r>
              <a:rPr lang="ru-RU" b="1" dirty="0" sz="1200">
                <a:solidFill>
                  <a:schemeClr val="tx1"/>
                </a:solidFill>
              </a:rPr>
              <a:t>Москва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sz="2600" b="1">
                <a:solidFill>
                  <a:srgbClr val="520978"/>
                </a:solidFill>
              </a:rPr>
              <a:t>Работодатель приходит сам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 sz="1200">
                <a:solidFill>
                  <a:schemeClr val="tx1"/>
                </a:solidFill>
              </a:rPr>
              <a:t>Кандидат сдаёт адаптивный тест на свой грейд и попадает в категорию. Работодатель находит категорию, агенты сторон сверяют ожидания, и он сам приглашает человека с вилкой зарплаты.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  <p:pic>
        <p:nvPicPr>
          <p:cNvPr id="19" name="Picture 18" descr="c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02920"/>
            <a:ext cx="492790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>
                <a:solidFill>
                  <a:schemeClr val="tx1"/>
                </a:solidFill>
              </a:rPr>
              <a:t>Консультант по предметной области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>
                <a:solidFill>
                  <a:schemeClr val="tx1"/>
                </a:solidFill>
              </a:rPr>
              <a:t>Телеграм: @—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>
                <a:solidFill>
                  <a:schemeClr val="tx1"/>
                </a:solidFill>
              </a:rPr>
              <a:t>Телефон: —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>
                <a:solidFill>
                  <a:schemeClr val="tx1"/>
                </a:solidFill>
              </a:rPr>
              <a:t>—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b="1" dirty="0">
                <a:solidFill>
                  <a:schemeClr val="accent5"/>
                </a:solidFill>
              </a:rPr>
              <a:t>Иван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t>КОМАНДА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/>
                </a:solidFill>
              </a:rPr>
              <a:t>Капитан, продукт и разработка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/>
                </a:solidFill>
              </a:rPr>
              <a:t>Телеграм: @—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/>
                </a:solidFill>
              </a:rPr>
              <a:t>Телефон: —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/>
                </a:solidFill>
              </a:rPr>
              <a:t>Скорозвон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b="1" dirty="0">
                <a:solidFill>
                  <a:schemeClr val="accent5"/>
                </a:solidFill>
              </a:rPr>
              <a:t>Амбарцум Амаякян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t>ИСТОРИЯ И ВЫЗОВЫ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 sz="1200">
                <a:solidFill>
                  <a:schemeClr val="tx1"/>
                </a:solidFill>
              </a:rPr>
              <a:t>Собрались на хакатоне ЛЦТ 2026: до этого вместе делали «Маршрут дня» для Билайна — планировщик выездов инженеров. Для ФСП взяли задачу, где решает не алгоритм, а механика рынка.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 sz="1100">
                <a:solidFill>
                  <a:srgbClr val="1C1D22"/>
                </a:solidFill>
              </a:rPr>
              <a:t>Без надзора тест не отличает человека от человека с моделью. Мы не стали это прятать: тест — входной билет, а сильнее него в профиле стоят реестр ФСП и итог встречи с работодателем. Проверяли себя на синтетике, и первый прогон показал, что подбор не лучше поиска по резюме — разобрались, почему, и переписали разметку.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 sz="1200">
                <a:solidFill>
                  <a:srgbClr val="1C1D22"/>
                </a:solidFill>
              </a:rPr>
              <a:t>На рынке найма ИТ работодатель тонет в откликах, а кандидат пишет в пустоту. Хотелось сервис, где первым пишет работодатель — и сразу с деньгами, а победы в соревнованиях ФСП что-то значат для карьеры.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200" dirty="0">
                <a:solidFill>
                  <a:schemeClr val="tx1"/>
                </a:solidFill>
              </a:rPr>
              <a:t>Адаптивный тест на модели IRT: банк из 41 калиброванного шаблона, у каждого кандидата свои варианты и свой набор, 6—12 заданий, экспресс — 3—4.</a:t>
            </a:r>
          </a:p>
          <a:p>
            <a:r>
              <a:rPr lang="ru-RU" sz="1200" dirty="0">
                <a:solidFill>
                  <a:schemeClr val="tx1"/>
                </a:solidFill>
              </a:rPr>
              <a:t>Категория «специализация × грейд», порядок внутри — тест, стек, ФСП, свежесть, у каждой позиции объяснение.</a:t>
            </a:r>
          </a:p>
          <a:p>
            <a:r>
              <a:rPr lang="ru-RU" sz="1200" dirty="0">
                <a:solidFill>
                  <a:schemeClr val="tx1"/>
                </a:solidFill>
              </a:rPr>
              <a:t>Переговоры агентов со всей категорией: общий протокол по пяти критериям.</a:t>
            </a:r>
          </a:p>
          <a:p>
            <a:r>
              <a:rPr lang="ru-RU" sz="1200" dirty="0">
                <a:solidFill>
                  <a:schemeClr val="tx1"/>
                </a:solidFill>
              </a:rPr>
              <a:t>FastAPI, React, PostgreSQL, Docker; ФСП ID — по протоколу OIDC.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200" dirty="0">
                <a:solidFill>
                  <a:schemeClr val="tx1"/>
                </a:solidFill>
              </a:rPr>
              <a:t>Работодатель пишет первым и с вилкой — кандидат видит деньги до разговора.</a:t>
            </a:r>
          </a:p>
          <a:p>
            <a:r>
              <a:rPr lang="ru-RU" sz="1200" dirty="0">
                <a:solidFill>
                  <a:schemeClr val="tx1"/>
                </a:solidFill>
              </a:rPr>
              <a:t>Победы в соревнованиях ФСП превращаются в место в выдаче, а не в строчку резюме.</a:t>
            </a:r>
          </a:p>
          <a:p>
            <a:r>
              <a:rPr lang="ru-RU" sz="1200" dirty="0">
                <a:solidFill>
                  <a:schemeClr val="tx1"/>
                </a:solidFill>
              </a:rPr>
              <a:t>Работодатель видит, как ведёт себя компания: доля ответов, сроки, вилки против рынка — это защита от фиктивных вакансий.</a:t>
            </a:r>
          </a:p>
          <a:p>
            <a:r>
              <a:rPr lang="ru-RU" sz="1200" dirty="0">
                <a:solidFill>
                  <a:schemeClr val="tx1"/>
                </a:solidFill>
              </a:rPr>
              <a:t>Дальше: интеграция с реестром ФСП и ATS работодателей.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420624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300" b="1">
                <a:solidFill>
                  <a:srgbClr val="1C1D22"/>
                </a:solidFill>
              </a:rPr>
              <a:t>Резюме не проверено. </a:t>
            </a:r>
            <a:r>
              <a:rPr sz="1300">
                <a:solidFill>
                  <a:srgbClr val="1C1D22"/>
                </a:solidFill>
              </a:rPr>
              <a:t>Отбор идёт по ключевым словам; каждый четвёртый в выдаче по резюме слабее заявленного (наша валидация).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300" b="1">
                <a:solidFill>
                  <a:srgbClr val="1C1D22"/>
                </a:solidFill>
              </a:rPr>
              <a:t>Работодатель приходит сам. </a:t>
            </a:r>
            <a:r>
              <a:rPr sz="1300">
                <a:solidFill>
                  <a:srgbClr val="1C1D22"/>
                </a:solidFill>
              </a:rPr>
              <a:t>Он ищет в категории, подтверждённой тестом, и пишет первым — с вилкой зарплаты.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300" b="1">
                <a:solidFill>
                  <a:srgbClr val="1C1D22"/>
                </a:solidFill>
              </a:rPr>
              <a:t>Факт с происхождением. </a:t>
            </a:r>
            <a:r>
              <a:rPr sz="1300">
                <a:solidFill>
                  <a:srgbClr val="1C1D22"/>
                </a:solidFill>
              </a:rPr>
              <a:t>ФСП, встреча, тест или «со слов»: работодатель видит, чему верить, кандидат — как подняться.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ПРОБЛЕМА И РЕШЕНИЕ</a:t>
            </a:r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56616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300" b="1">
                <a:solidFill>
                  <a:srgbClr val="520978"/>
                </a:solidFill>
              </a:rPr>
              <a:t>Вход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r>
              <a:rPr sz="1000">
                <a:solidFill>
                  <a:srgbClr val="1C1D22"/>
                </a:solidFill>
              </a:rPr>
              <a:t>Почта с кодом или ФСП ID — достижения сами встают в профиль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300" b="1">
                <a:solidFill>
                  <a:srgbClr val="520978"/>
                </a:solidFill>
              </a:rPr>
              <a:t>Категория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r>
              <a:rPr sz="1000">
                <a:solidFill>
                  <a:srgbClr val="1C1D22"/>
                </a:solidFill>
              </a:rPr>
              <a:t>Специализация × грейд, место по силе профиля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300" b="1">
                <a:solidFill>
                  <a:srgbClr val="520978"/>
                </a:solidFill>
              </a:rPr>
              <a:t>Приглашение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r>
              <a:rPr sz="1000">
                <a:solidFill>
                  <a:srgbClr val="1C1D22"/>
                </a:solidFill>
              </a:rPr>
              <a:t>Вилка обязательна, контакты — после «да»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300" b="1">
                <a:solidFill>
                  <a:srgbClr val="520978"/>
                </a:solidFill>
              </a:rPr>
              <a:t>Опрос и тест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r>
              <a:rPr sz="1000">
                <a:solidFill>
                  <a:srgbClr val="1C1D22"/>
                </a:solidFill>
              </a:rPr>
              <a:t>Специализация, стек, заявленный грейд, адаптивный тест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sz="1300" b="1">
                <a:solidFill>
                  <a:srgbClr val="520978"/>
                </a:solidFill>
              </a:rPr>
              <a:t>Подборка и переговоры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r>
              <a:rPr sz="1000">
                <a:solidFill>
                  <a:srgbClr val="1C1D22"/>
                </a:solidFill>
              </a:rPr>
              <a:t>Агенты сверяют стек, грейд, деньги, формат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СКВОЗНОЙ ПУТЬ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201168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r>
              <a:rPr sz="1400" b="1">
                <a:solidFill>
                  <a:srgbClr val="520978"/>
                </a:solidFill>
              </a:rPr>
              <a:t>Шаблон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r>
              <a:rPr sz="1100">
                <a:solidFill>
                  <a:srgbClr val="1C1D22"/>
                </a:solidFill>
              </a:rPr>
              <a:t>Не задача, а форма с параметрами и эталоном. Сотни вариантов одной трудности: цифры и сюжет у каждого свои.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r>
              <a:rPr sz="1400" b="1">
                <a:solidFill>
                  <a:srgbClr val="520978"/>
                </a:solidFill>
              </a:rPr>
              <a:t>Адаптивный показ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r>
              <a:rPr sz="1100">
                <a:solidFill>
                  <a:srgbClr val="1C1D22"/>
                </a:solidFill>
              </a:rPr>
              <a:t>Следующее задание — из трёх самых информативных в текущей оценке, одно случайно. Набор у каждого свой.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r>
              <a:rPr sz="1400" b="1">
                <a:solidFill>
                  <a:srgbClr val="520978"/>
                </a:solidFill>
              </a:rPr>
              <a:t>Стоп по точности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r>
              <a:rPr sz="1100">
                <a:solidFill>
                  <a:srgbClr val="1C1D22"/>
                </a:solidFill>
              </a:rPr>
              <a:t>6—12 заданий, стоп при погрешности ≤ 0,38. Экспресс для жюри — 3—4 задания.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r>
              <a:rPr sz="1400" b="1">
                <a:solidFill>
                  <a:srgbClr val="520978"/>
                </a:solidFill>
              </a:rPr>
              <a:t>Грейд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r>
              <a:rPr sz="1100">
                <a:solidFill>
                  <a:srgbClr val="1C1D22"/>
                </a:solidFill>
              </a:rPr>
              <a:t>Не прошёл — тест на ступень ниже сразу. Выше — отдельным тестом. Повтор — через 90 дней.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ТЕСТ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r>
              <a:rPr sz="1400" b="1">
                <a:solidFill>
                  <a:srgbClr val="FF0053"/>
                </a:solidFill>
              </a:rPr>
              <a:t>01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r>
              <a:rPr sz="1400" b="1">
                <a:solidFill>
                  <a:srgbClr val="FF0053"/>
                </a:solidFill>
              </a:rPr>
              <a:t>02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r>
              <a:rPr sz="1400" b="1">
                <a:solidFill>
                  <a:srgbClr val="FF0053"/>
                </a:solidFill>
              </a:rPr>
              <a:t>03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r>
              <a:rPr sz="1400" b="1">
                <a:solidFill>
                  <a:srgbClr val="FF0053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201168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>
            <a:extLst>
              <a:ext uri="{FF2B5EF4-FFF2-40B4-BE49-F238E27FC236}">
                <a16:creationId xmlns:a16="http://schemas.microsoft.com/office/drawing/2014/main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43D9F-F201-460A-B5AB-10C4C6323FC9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www.</a:t>
              </a:r>
              <a:r>
                <a:rPr lang="en-US" sz="1000" dirty="0" err="1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lider</a:t>
              </a:r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.com</a:t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EAEF8-91EF-49C8-A667-2BC7D51C2397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www.</a:t>
              </a:r>
              <a:r>
                <a:rPr lang="en-US" sz="1000" dirty="0" err="1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lider</a:t>
              </a:r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.com</a:t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200" b="1">
                <a:solidFill>
                  <a:srgbClr val="1C1D22"/>
                </a:solidFill>
              </a:rPr>
              <a:t>Кандидат. </a:t>
            </a:r>
            <a:r>
              <a:rPr sz="1200">
                <a:solidFill>
                  <a:srgbClr val="1C1D22"/>
                </a:solidFill>
              </a:rPr>
              <a:t>Так его видит работодатель: категория, оценка, место в категории, соревнования ФСП и факты «со слов».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sz="1200" b="1">
                <a:solidFill>
                  <a:srgbClr val="1C1D22"/>
                </a:solidFill>
              </a:rPr>
              <a:t>Работодатель. </a:t>
            </a:r>
            <a:r>
              <a:rPr sz="1200">
                <a:solidFill>
                  <a:srgbClr val="1C1D22"/>
                </a:solidFill>
              </a:rPr>
              <a:t>Протокол переговоров агентов: по каждому критерию — совпадает, с оговоркой или расхождение.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ДЕМО</a:t>
            </a:r>
          </a:p>
        </p:txBody>
      </p:sp>
      <p:pic>
        <p:nvPicPr>
          <p:cNvPr id="56" name="Picture 55" descr="c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642" y="1577998"/>
            <a:ext cx="4121688" cy="2283975"/>
          </a:xfrm>
          <a:prstGeom prst="rect">
            <a:avLst/>
          </a:prstGeom>
        </p:spPr>
      </p:pic>
      <p:pic>
        <p:nvPicPr>
          <p:cNvPr id="57" name="Picture 56" descr="prot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540" y="1577998"/>
            <a:ext cx="4121688" cy="228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r>
              <a:t>ПЕРЕГОВОРЫ С КАТЕГОРИЕЙ</a:t>
            </a:r>
          </a:p>
        </p:txBody>
      </p:sp>
      <p:pic>
        <p:nvPicPr>
          <p:cNvPr id="22" name="Picture 21" descr="ma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7406640" cy="387614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38160" y="160020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C1D22"/>
                </a:solidFill>
              </a:rPr>
              <a:t>Один сценарий со всеми. </a:t>
            </a:r>
            <a:r>
              <a:rPr sz="1200" b="0">
                <a:solidFill>
                  <a:srgbClr val="1C1D22"/>
                </a:solidFill>
              </a:rPr>
              <a:t>Агент работодателя проходит стек, грейд, деньги, формат и мотивацию с каждым кандидатом категории.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C1D22"/>
                </a:solidFill>
              </a:rPr>
              <a:t>Сто строк, а не сто профилей. </a:t>
            </a:r>
            <a:r>
              <a:rPr sz="1200" b="0">
                <a:solidFill>
                  <a:srgbClr val="1C1D22"/>
                </a:solidFill>
              </a:rPr>
              <a:t>Наверху — с кем совпало всё; клик открывает протокол.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C1D22"/>
                </a:solidFill>
              </a:rPr>
              <a:t>Подсказка по деньгам. </a:t>
            </a:r>
            <a:r>
              <a:rPr sz="1200" b="0">
                <a:solidFill>
                  <a:srgbClr val="1C1D22"/>
                </a:solidFill>
              </a:rPr>
              <a:t>Сколько кандидатов добавится, если поднять верх вилки на 10 %.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C1D22"/>
                </a:solidFill>
              </a:rPr>
              <a:t>Решение за человеком. </a:t>
            </a:r>
            <a:r>
              <a:rPr sz="1200" b="0">
                <a:solidFill>
                  <a:srgbClr val="1C1D22"/>
                </a:solidFill>
              </a:rPr>
              <a:t>Выбрать «совпало» и пригласить одним приглашением.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r>
              <a:rPr sz="1400" b="1">
                <a:solidFill>
                  <a:srgbClr val="520978"/>
                </a:solidFill>
              </a:rPr>
              <a:t>Категория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r>
              <a:rPr sz="1100">
                <a:solidFill>
                  <a:srgbClr val="1C1D22"/>
                </a:solidFill>
              </a:rPr>
              <a:t>Специализация × грейд из теста, а не из резюме. Работодатель видит все грейды с числом людей.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r>
              <a:rPr sz="1400" b="1">
                <a:solidFill>
                  <a:srgbClr val="520978"/>
                </a:solidFill>
              </a:rPr>
              <a:t>Порядок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r>
              <a:rPr sz="1100">
                <a:solidFill>
                  <a:srgbClr val="1C1D22"/>
                </a:solidFill>
              </a:rPr>
              <a:t>Тест 60 %, стек 20 %, ФСП 10 %, свежесть 10 %. Без ФСП — ноль, не штраф. Неподтверждённые — ниже всех.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r>
              <a:rPr sz="1400" b="1">
                <a:solidFill>
                  <a:srgbClr val="520978"/>
                </a:solidFill>
              </a:rPr>
              <a:t>Объяснение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r>
              <a:rPr sz="1100">
                <a:solidFill>
                  <a:srgbClr val="1C1D22"/>
                </a:solidFill>
              </a:rPr>
              <a:t>К каждой позиции строки «почему здесь» с источником факта и разбор балла. Фильтры не теряют отбор.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>
                <a:solidFill>
                  <a:srgbClr val="520978"/>
                </a:solidFill>
              </a:rPr>
              <a:t>ПОДБОР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r>
              <a:rPr sz="1400" b="1">
                <a:solidFill>
                  <a:srgbClr val="FF0053"/>
                </a:solidFill>
              </a:rPr>
              <a:t>01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r>
              <a:rPr sz="1400" b="1">
                <a:solidFill>
                  <a:srgbClr val="FF0053"/>
                </a:solidFill>
              </a:rPr>
              <a:t>02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r>
              <a:rPr sz="1400" b="1">
                <a:solidFill>
                  <a:srgbClr val="FF0053"/>
                </a:solidFill>
              </a:rPr>
              <a:t>03</a:t>
            </a:r>
            <a:endParaRPr lang="ru-RU" sz="4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27432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18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15961" y="1428777"/>
            <a:ext cx="3866856" cy="423628"/>
          </a:xfrm>
        </p:spPr>
        <p:txBody>
          <a:bodyPr/>
          <a:lstStyle/>
          <a:p>
            <a:r>
              <a:rPr sz="1800" b="1">
                <a:solidFill>
                  <a:srgbClr val="FF0053"/>
                </a:solidFill>
              </a:rPr>
              <a:t>75,7 %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15964" y="1996388"/>
            <a:ext cx="3866856" cy="672075"/>
          </a:xfrm>
        </p:spPr>
        <p:txBody>
          <a:bodyPr/>
          <a:lstStyle/>
          <a:p>
            <a:r>
              <a:rPr sz="1100">
                <a:solidFill>
                  <a:srgbClr val="1C1D22"/>
                </a:solidFill>
              </a:rPr>
              <a:t>грейд совпал с истинным, ошибок больше чем на ступень нет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596605" y="3032761"/>
            <a:ext cx="3866856" cy="403756"/>
          </a:xfrm>
        </p:spPr>
        <p:txBody>
          <a:bodyPr/>
          <a:lstStyle/>
          <a:p>
            <a:r>
              <a:rPr sz="1800" b="1">
                <a:solidFill>
                  <a:srgbClr val="FF0053"/>
                </a:solidFill>
              </a:rPr>
              <a:t>0,86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596605" y="3580500"/>
            <a:ext cx="3866856" cy="672075"/>
          </a:xfrm>
        </p:spPr>
        <p:txBody>
          <a:bodyPr/>
          <a:lstStyle/>
          <a:p>
            <a:r>
              <a:rPr sz="1100">
                <a:solidFill>
                  <a:srgbClr val="1C1D22"/>
                </a:solidFill>
              </a:rPr>
              <a:t>корреляция оценок при повторном прохождении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96605" y="4616873"/>
            <a:ext cx="3866856" cy="403913"/>
          </a:xfrm>
        </p:spPr>
        <p:txBody>
          <a:bodyPr/>
          <a:lstStyle/>
          <a:p>
            <a:r>
              <a:rPr sz="1800" b="1">
                <a:solidFill>
                  <a:srgbClr val="FF0053"/>
                </a:solidFill>
              </a:rPr>
              <a:t>0,44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96605" y="5164612"/>
            <a:ext cx="3866856" cy="672075"/>
          </a:xfrm>
        </p:spPr>
        <p:txBody>
          <a:bodyPr/>
          <a:lstStyle/>
          <a:p>
            <a:r>
              <a:rPr sz="1100">
                <a:solidFill>
                  <a:srgbClr val="1C1D22"/>
                </a:solidFill>
              </a:rPr>
              <a:t>средняя разделяющая сила заданий; ниже 0,3 — 1 из 41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89068" y="1428777"/>
            <a:ext cx="3866856" cy="423628"/>
          </a:xfrm>
        </p:spPr>
        <p:txBody>
          <a:bodyPr/>
          <a:lstStyle/>
          <a:p>
            <a:r>
              <a:rPr sz="1800" b="1">
                <a:solidFill>
                  <a:srgbClr val="FF0053"/>
                </a:solidFill>
              </a:rPr>
              <a:t>9 % против 24 %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289071" y="1996388"/>
            <a:ext cx="3866856" cy="672075"/>
          </a:xfrm>
        </p:spPr>
        <p:txBody>
          <a:bodyPr/>
          <a:lstStyle/>
          <a:p>
            <a:r>
              <a:rPr sz="1100">
                <a:solidFill>
                  <a:srgbClr val="1C1D22"/>
                </a:solidFill>
              </a:rPr>
              <a:t>у кого вырос грейд после утечки 30 % ответов: банк против общего набора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269712" y="3032761"/>
            <a:ext cx="3866856" cy="403756"/>
          </a:xfrm>
        </p:spPr>
        <p:txBody>
          <a:bodyPr/>
          <a:lstStyle/>
          <a:p>
            <a:r>
              <a:rPr sz="1800" b="1">
                <a:solidFill>
                  <a:srgbClr val="FF0053"/>
                </a:solidFill>
              </a:rPr>
              <a:t>69,7 % против 78,8 %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269712" y="3580500"/>
            <a:ext cx="3866856" cy="672075"/>
          </a:xfrm>
        </p:spPr>
        <p:txBody>
          <a:bodyPr/>
          <a:lstStyle/>
          <a:p>
            <a:r>
              <a:rPr sz="1100">
                <a:solidFill>
                  <a:srgbClr val="1C1D22"/>
                </a:solidFill>
              </a:rPr>
              <a:t>точность без калибровки и с ней — довод ТЗ против генерации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269712" y="4616873"/>
            <a:ext cx="3866856" cy="403913"/>
          </a:xfrm>
        </p:spPr>
        <p:txBody>
          <a:bodyPr/>
          <a:lstStyle/>
          <a:p>
            <a:r>
              <a:rPr sz="1800" b="1">
                <a:solidFill>
                  <a:srgbClr val="FF0053"/>
                </a:solidFill>
              </a:rPr>
              <a:t>2,5 % против 26 %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269712" y="5164612"/>
            <a:ext cx="3866856" cy="672075"/>
          </a:xfrm>
        </p:spPr>
        <p:txBody>
          <a:bodyPr/>
          <a:lstStyle/>
          <a:p>
            <a:r>
              <a:rPr sz="1100">
                <a:solidFill>
                  <a:srgbClr val="1C1D22"/>
                </a:solidFill>
              </a:rPr>
              <a:t>кандидатов слабее запроса в первой десятке: тест против резюме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ВАЛИДАЦИЯ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394052"/>
            <a:ext cx="771003" cy="423628"/>
          </a:xfrm>
        </p:spPr>
        <p:txBody>
          <a:bodyPr/>
          <a:lstStyle/>
          <a:p>
            <a:r>
              <a:rPr sz="1400" b="1">
                <a:solidFill>
                  <a:srgbClr val="520978"/>
                </a:solidFill>
              </a:rPr>
              <a:t>01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1557" y="2998036"/>
            <a:ext cx="771003" cy="403756"/>
          </a:xfrm>
        </p:spPr>
        <p:txBody>
          <a:bodyPr/>
          <a:lstStyle/>
          <a:p>
            <a:r>
              <a:rPr sz="1400" b="1">
                <a:solidFill>
                  <a:srgbClr val="520978"/>
                </a:solidFill>
              </a:rPr>
              <a:t>02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01557" y="4582148"/>
            <a:ext cx="771003" cy="403913"/>
          </a:xfrm>
        </p:spPr>
        <p:txBody>
          <a:bodyPr/>
          <a:lstStyle/>
          <a:p>
            <a:r>
              <a:rPr sz="1400" b="1">
                <a:solidFill>
                  <a:srgbClr val="520978"/>
                </a:solidFill>
              </a:rPr>
              <a:t>03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194020" y="1394052"/>
            <a:ext cx="771003" cy="423628"/>
          </a:xfrm>
        </p:spPr>
        <p:txBody>
          <a:bodyPr/>
          <a:lstStyle/>
          <a:p>
            <a:r>
              <a:rPr sz="1400" b="1">
                <a:solidFill>
                  <a:srgbClr val="520978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174664" y="2998036"/>
            <a:ext cx="771003" cy="403756"/>
          </a:xfrm>
        </p:spPr>
        <p:txBody>
          <a:bodyPr/>
          <a:lstStyle/>
          <a:p>
            <a:r>
              <a:rPr sz="1400" b="1">
                <a:solidFill>
                  <a:srgbClr val="520978"/>
                </a:solidFill>
              </a:rPr>
              <a:t>05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174664" y="4582148"/>
            <a:ext cx="771003" cy="403913"/>
          </a:xfrm>
        </p:spPr>
        <p:txBody>
          <a:bodyPr/>
          <a:lstStyle/>
          <a:p>
            <a:r>
              <a:rPr sz="1400" b="1">
                <a:solidFill>
                  <a:srgbClr val="520978"/>
                </a:solidFill>
              </a:rPr>
              <a:t>06</a:t>
            </a:r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292608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/>
            <a:r>
              <a:rPr sz="1400" b="1">
                <a:solidFill>
                  <a:srgbClr val="1C1D22"/>
                </a:solidFill>
              </a:rPr>
              <a:t>Онлайн-тест без надзора не отличает человека от человека с моделью. </a:t>
            </a:r>
            <a:r>
              <a:rPr sz="1400">
                <a:solidFill>
                  <a:srgbClr val="1C1D22"/>
                </a:solidFill>
              </a:rPr>
              <a:t/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sz="1400">
                <a:solidFill>
                  <a:srgbClr val="1C1D22"/>
                </a:solidFill>
              </a:rPr>
              <a:t>Поэтому тест в «Разряде» — входной билет. Выше него в профиле стоят источники, которые подсказать нельзя.</a:t>
            </a:r>
          </a:p>
          <a:p>
            <a:pPr algn="l"/>
            <a:r>
              <a:rPr sz="1400">
                <a:solidFill>
                  <a:srgbClr val="1C1D22"/>
                </a:solidFill>
              </a:rPr>
              <a:t>Реестр ФСП — это и есть очная проверка с надзором, у которой федерация уже решила вопрос масштаба.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1300" b="1">
                <a:solidFill>
                  <a:srgbClr val="1C1D22"/>
                </a:solidFill>
              </a:rPr>
              <a:t>ФСП  </a:t>
            </a:r>
            <a:r>
              <a:rPr sz="1300">
                <a:solidFill>
                  <a:srgbClr val="1C1D22"/>
                </a:solidFill>
              </a:rPr>
              <a:t>очные соревнования, вес в ранжировании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1300" b="1">
                <a:solidFill>
                  <a:srgbClr val="1C1D22"/>
                </a:solidFill>
              </a:rPr>
              <a:t>Встреча  </a:t>
            </a:r>
            <a:r>
              <a:rPr sz="1300">
                <a:solidFill>
                  <a:srgbClr val="1C1D22"/>
                </a:solidFill>
              </a:rPr>
              <a:t>итог интервью от работодателя — факт профиля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1300" b="1">
                <a:solidFill>
                  <a:srgbClr val="1C1D22"/>
                </a:solidFill>
              </a:rPr>
              <a:t>Код  </a:t>
            </a:r>
            <a:r>
              <a:rPr sz="1300">
                <a:solidFill>
                  <a:srgbClr val="1C1D22"/>
                </a:solidFill>
              </a:rPr>
              <a:t>репозитории со ссылкой на коммит — после MVP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1300" b="1">
                <a:solidFill>
                  <a:srgbClr val="1C1D22"/>
                </a:solidFill>
              </a:rPr>
              <a:t>Разбор  </a:t>
            </a:r>
            <a:r>
              <a:rPr sz="1300">
                <a:solidFill>
                  <a:srgbClr val="1C1D22"/>
                </a:solidFill>
              </a:rPr>
              <a:t>найти ошибку, проверить ответ модели — 5 шаблонов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sz="1300" b="1">
                <a:solidFill>
                  <a:srgbClr val="1C1D22"/>
                </a:solidFill>
              </a:rPr>
              <a:t>Тест  </a:t>
            </a:r>
            <a:r>
              <a:rPr sz="1300">
                <a:solidFill>
                  <a:srgbClr val="1C1D22"/>
                </a:solidFill>
              </a:rPr>
              <a:t>знание стека и основ — категория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ЧЕМУ ВЕРИТЬ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r>
              <a:rPr>
                <a:solidFill>
                  <a:srgbClr val="520978"/>
                </a:solidFill>
              </a:rPr>
              <a:t>ДАЛЬШЕ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4902200" cy="712587"/>
          </a:xfrm>
        </p:spPr>
        <p:txBody>
          <a:bodyPr/>
          <a:lstStyle/>
          <a:p>
            <a:r>
              <a:rPr sz="1500">
                <a:solidFill>
                  <a:srgbClr val="1C1D22"/>
                </a:solidFill>
              </a:rPr>
              <a:t>Реестр ФСП вместо мока: вход через ФСП ID и достижения по номеру участника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4902200" cy="712587"/>
          </a:xfrm>
        </p:spPr>
        <p:txBody>
          <a:bodyPr/>
          <a:lstStyle/>
          <a:p>
            <a:r>
              <a:rPr sz="1500">
                <a:solidFill>
                  <a:srgbClr val="1C1D22"/>
                </a:solidFill>
              </a:rPr>
              <a:t>Банк до сотен шаблонов, параметры — по накопленным ответам и итогам встреч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4902200" cy="712587"/>
          </a:xfrm>
        </p:spPr>
        <p:txBody>
          <a:bodyPr/>
          <a:lstStyle/>
          <a:p>
            <a:r>
              <a:rPr sz="1500">
                <a:solidFill>
                  <a:srgbClr val="1C1D22"/>
                </a:solidFill>
              </a:rPr>
              <a:t>Задания с кодом в песочнице со скрытыми тестами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4902200" cy="712587"/>
          </a:xfrm>
        </p:spPr>
        <p:txBody>
          <a:bodyPr/>
          <a:lstStyle/>
          <a:p>
            <a:r>
              <a:rPr sz="1500">
                <a:solidFill>
                  <a:srgbClr val="1C1D22"/>
                </a:solidFill>
              </a:rPr>
              <a:t>ATS работодателей: карточка кандидата и статусы через вебхук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4902200" cy="712587"/>
          </a:xfrm>
        </p:spPr>
        <p:txBody>
          <a:bodyPr/>
          <a:lstStyle/>
          <a:p>
            <a:r>
              <a:rPr sz="1500">
                <a:solidFill>
                  <a:srgbClr val="1C1D22"/>
                </a:solidFill>
              </a:rPr>
              <a:t>Сверка компаний по ИНН и лимиты приглашений против фиктивных вакансий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15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r>
              <a:rPr sz="5400">
                <a:solidFill>
                  <a:srgbClr val="FFFFFF"/>
                </a:solidFill>
              </a:rPr>
              <a:t>Спасибо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463" indent="-3175"/>
            <a:r>
              <a:rPr lang="ru-RU" dirty="0"/>
              <a:t>Код, стенд и документация: github.com/a-amik/ltzt-fsp-2026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11028</TotalTime>
  <Words>632</Words>
  <Application>Microsoft Macintosh PowerPoint</Application>
  <PresentationFormat>Широкоэкранный</PresentationFormat>
  <Paragraphs>187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Ирина</cp:lastModifiedBy>
  <cp:revision>97</cp:revision>
  <dcterms:created xsi:type="dcterms:W3CDTF">2023-05-15T07:36:23Z</dcterms:created>
  <dcterms:modified xsi:type="dcterms:W3CDTF">2026-10-02T08:27:06Z</dcterms:modified>
</cp:coreProperties>
</file>